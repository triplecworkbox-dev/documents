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CDE"/>
    <a:srgbClr val="FAF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DC1CB8-9B38-41D7-AC6D-BBC7933C270E}" v="161" dt="2026-07-28T11:51:18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riplecworkbox-dev.github.io/documents/agreement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58B812-6EF0-4DD2-C2FB-EF6424A60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8ECDE"/>
            </a:solidFill>
          </a:ln>
        </p:spPr>
      </p:pic>
    </p:spTree>
    <p:extLst>
      <p:ext uri="{BB962C8B-B14F-4D97-AF65-F5344CB8AC3E}">
        <p14:creationId xmlns:p14="http://schemas.microsoft.com/office/powerpoint/2010/main" val="144489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A2D"/>
                </a:solidFill>
                <a:latin typeface="Aptos Display"/>
              </a:defRPr>
            </a:pPr>
            <a:r>
              <a:t>A simple transport and practical-support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3676A"/>
                </a:solidFill>
                <a:latin typeface="Aptos"/>
              </a:defRPr>
            </a:pPr>
            <a:r>
              <a:t>A small, low-pressure trial designed to make weekly life easier and more reliable.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44200" cy="1234440"/>
          </a:xfrm>
          <a:prstGeom prst="roundRect">
            <a:avLst/>
          </a:prstGeom>
          <a:solidFill>
            <a:srgbClr val="DEECE9"/>
          </a:solidFill>
          <a:ln w="12700">
            <a:solidFill>
              <a:srgbClr val="DE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7166" y="1920240"/>
            <a:ext cx="9452908" cy="80021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2300" b="1">
                <a:solidFill>
                  <a:srgbClr val="262A2D"/>
                </a:solidFill>
                <a:latin typeface="Aptos Display"/>
              </a:defRPr>
            </a:pPr>
            <a:r>
              <a:t>The idea: pre-arranged driving and light practical support, with clear times, </a:t>
            </a:r>
            <a:endParaRPr lang="en-US"/>
          </a:p>
          <a:p>
            <a:pPr algn="ctr">
              <a:defRPr sz="2300" b="1">
                <a:solidFill>
                  <a:srgbClr val="262A2D"/>
                </a:solidFill>
                <a:latin typeface="Aptos Display"/>
              </a:defRPr>
            </a:pPr>
            <a:r>
              <a:t>fair payment and a four-week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3337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109728" cy="2148840"/>
          </a:xfrm>
          <a:prstGeom prst="rect">
            <a:avLst/>
          </a:prstGeom>
          <a:solidFill>
            <a:srgbClr val="377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341071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2A2D"/>
                </a:solidFill>
                <a:latin typeface="Aptos"/>
              </a:defRPr>
            </a:pPr>
            <a:r>
              <a:t>Convenience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904487"/>
            <a:ext cx="2834639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>
                <a:solidFill>
                  <a:srgbClr val="63676A"/>
                </a:solidFill>
                <a:latin typeface="Aptos"/>
              </a:defRPr>
            </a:pPr>
            <a:r>
              <a:t>Reliable help for selected appointments, errands and local trips, arranged ahead of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3246120"/>
            <a:ext cx="3337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16552" y="3246120"/>
            <a:ext cx="109728" cy="2148840"/>
          </a:xfrm>
          <a:prstGeom prst="rect">
            <a:avLst/>
          </a:prstGeom>
          <a:solidFill>
            <a:srgbClr val="377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72584" y="341071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2A2D"/>
                </a:solidFill>
                <a:latin typeface="Aptos"/>
              </a:defRPr>
            </a:pPr>
            <a:r>
              <a:t>Peace of mind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3904487"/>
            <a:ext cx="2834639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>
                <a:solidFill>
                  <a:srgbClr val="63676A"/>
                </a:solidFill>
                <a:latin typeface="Aptos"/>
              </a:defRPr>
            </a:pPr>
            <a:r>
              <a:t>Less pressure to rely on the current car when another transport option is available.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3246120"/>
            <a:ext cx="3337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3246120"/>
            <a:ext cx="109728" cy="2148840"/>
          </a:xfrm>
          <a:prstGeom prst="rect">
            <a:avLst/>
          </a:prstGeom>
          <a:solidFill>
            <a:srgbClr val="BE9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57615" y="341071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2A2D"/>
                </a:solidFill>
                <a:latin typeface="Aptos"/>
              </a:defRPr>
            </a:pPr>
            <a:r>
              <a:t>Simple and flexible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3904487"/>
            <a:ext cx="2834639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>
                <a:solidFill>
                  <a:srgbClr val="63676A"/>
                </a:solidFill>
                <a:latin typeface="Aptos"/>
              </a:defRPr>
            </a:pPr>
            <a:r>
              <a:t>No long-term commitment. Start small, review what works, and adjust only if it feels worthwhile.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446520"/>
            <a:ext cx="10835640" cy="18288"/>
          </a:xfrm>
          <a:prstGeom prst="rect">
            <a:avLst/>
          </a:prstGeom>
          <a:solidFill>
            <a:srgbClr val="E7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6492240"/>
            <a:ext cx="10332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676A"/>
                </a:solidFill>
                <a:latin typeface="Aptos"/>
              </a:defRPr>
            </a:pPr>
            <a:r>
              <a:t>A simple four-week pilot for discussion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D5A90B4-9697-386F-5186-D0A8508F2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149" y="497163"/>
            <a:ext cx="3207441" cy="7350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A2D"/>
                </a:solidFill>
                <a:latin typeface="Aptos Display"/>
              </a:defRPr>
            </a:pPr>
            <a:r>
              <a:t>What a starting arrangement could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3676A"/>
                </a:solidFill>
                <a:latin typeface="Aptos"/>
              </a:defRPr>
            </a:pPr>
            <a:r>
              <a:t>Illustrative figures only. Final pricing would depend on distance, timing and frequency.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971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81051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62A2D"/>
                </a:solidFill>
                <a:latin typeface="Aptos"/>
              </a:defRPr>
            </a:pPr>
            <a:r>
              <a:t>Local return trip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2402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7977"/>
                </a:solidFill>
                <a:latin typeface="Aptos Display"/>
              </a:defRPr>
            </a:pPr>
            <a:r>
              <a:t>$40–$60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34640"/>
            <a:ext cx="1968809" cy="44627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150">
                <a:solidFill>
                  <a:srgbClr val="63676A"/>
                </a:solidFill>
                <a:latin typeface="Aptos"/>
              </a:defRPr>
            </a:pPr>
            <a:r>
              <a:t>Up to about 60–75 minutes, </a:t>
            </a:r>
            <a:endParaRPr lang="en-US"/>
          </a:p>
          <a:p>
            <a:pPr>
              <a:defRPr sz="1150">
                <a:solidFill>
                  <a:srgbClr val="63676A"/>
                </a:solidFill>
                <a:latin typeface="Aptos"/>
              </a:defRPr>
            </a:pPr>
            <a:r>
              <a:t>with local travel.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00200"/>
            <a:ext cx="2971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181051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62A2D"/>
                </a:solidFill>
                <a:latin typeface="Aptos"/>
              </a:defRPr>
            </a:pPr>
            <a:r>
              <a:t>Extra waiting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2402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7977"/>
                </a:solidFill>
                <a:latin typeface="Aptos Display"/>
              </a:defRPr>
            </a:pPr>
            <a:r>
              <a:t>$20–$25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834640"/>
            <a:ext cx="1882247" cy="44627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150">
                <a:solidFill>
                  <a:srgbClr val="63676A"/>
                </a:solidFill>
                <a:latin typeface="Aptos"/>
              </a:defRPr>
            </a:pPr>
            <a:r>
              <a:t>Per additional 30 minutes, </a:t>
            </a:r>
            <a:endParaRPr lang="en-US"/>
          </a:p>
          <a:p>
            <a:pPr>
              <a:defRPr sz="1150">
                <a:solidFill>
                  <a:srgbClr val="63676A"/>
                </a:solidFill>
                <a:latin typeface="Aptos"/>
              </a:defRPr>
            </a:pPr>
            <a:r>
              <a:t>only when agreed.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600200"/>
            <a:ext cx="2971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44968" y="181051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62A2D"/>
                </a:solidFill>
                <a:latin typeface="Aptos"/>
              </a:defRPr>
            </a:pPr>
            <a:r>
              <a:t>Practical admin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2402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7977"/>
                </a:solidFill>
                <a:latin typeface="Aptos Display"/>
              </a:defRPr>
            </a:pPr>
            <a:r>
              <a:t>$35–$45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2834640"/>
            <a:ext cx="2069797" cy="44627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150">
                <a:solidFill>
                  <a:srgbClr val="63676A"/>
                </a:solidFill>
                <a:latin typeface="Aptos"/>
              </a:defRPr>
            </a:pPr>
            <a:r>
              <a:t>Per hour for bookings, </a:t>
            </a:r>
            <a:endParaRPr lang="en-US"/>
          </a:p>
          <a:p>
            <a:pPr>
              <a:defRPr sz="1150">
                <a:solidFill>
                  <a:srgbClr val="63676A"/>
                </a:solidFill>
                <a:latin typeface="Aptos"/>
              </a:defRPr>
            </a:pPr>
            <a:r>
              <a:t>forms or simple coordination.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77639"/>
            <a:ext cx="9738360" cy="1417320"/>
          </a:xfrm>
          <a:prstGeom prst="roundRect">
            <a:avLst/>
          </a:prstGeom>
          <a:solidFill>
            <a:srgbClr val="DEECE9"/>
          </a:solidFill>
          <a:ln w="12700">
            <a:solidFill>
              <a:srgbClr val="DE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242816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2A2D"/>
                </a:solidFill>
                <a:latin typeface="Aptos"/>
              </a:defRPr>
            </a:pPr>
            <a:r>
              <a:t>Example weekly starting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17720"/>
            <a:ext cx="5073377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>
                <a:solidFill>
                  <a:srgbClr val="63676A"/>
                </a:solidFill>
                <a:latin typeface="Aptos"/>
              </a:defRPr>
            </a:pPr>
            <a:r>
              <a:rPr lang="en-US"/>
              <a:t>Weekly local</a:t>
            </a:r>
            <a:r>
              <a:rPr dirty="0"/>
              <a:t> return trips + one hour of practical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315968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700" b="1">
                <a:solidFill>
                  <a:srgbClr val="262A2D"/>
                </a:solidFill>
                <a:latin typeface="Aptos Display"/>
              </a:defRPr>
            </a:pPr>
            <a:r>
              <a:t>$120–$165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892040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76A"/>
                </a:solidFill>
                <a:latin typeface="Aptos"/>
              </a:defRPr>
            </a:pPr>
            <a:r>
              <a:t>per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2356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i="1">
                <a:solidFill>
                  <a:srgbClr val="63676A"/>
                </a:solidFill>
                <a:latin typeface="Aptos"/>
              </a:defRPr>
            </a:pPr>
            <a:r>
              <a:t>Any petrol, parking or longer-distance costs would be agreed before the trip.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446520"/>
            <a:ext cx="10835640" cy="18288"/>
          </a:xfrm>
          <a:prstGeom prst="rect">
            <a:avLst/>
          </a:prstGeom>
          <a:solidFill>
            <a:srgbClr val="E7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6492240"/>
            <a:ext cx="10332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676A"/>
                </a:solidFill>
                <a:latin typeface="Aptos"/>
              </a:defRPr>
            </a:pPr>
            <a:r>
              <a:t>A simple four-week pilot for discussion</a:t>
            </a:r>
          </a:p>
        </p:txBody>
      </p:sp>
      <p:pic>
        <p:nvPicPr>
          <p:cNvPr id="30" name="Picture 2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E1DE95A-6422-669C-84E3-AEE7659C7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149" y="497163"/>
            <a:ext cx="3207441" cy="7350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A2D"/>
                </a:solidFill>
                <a:latin typeface="Aptos Display"/>
              </a:defRPr>
            </a:pPr>
            <a:r>
              <a:t>A gentle four-week 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3676A"/>
                </a:solidFill>
                <a:latin typeface="Aptos"/>
              </a:defRPr>
            </a:pPr>
            <a:r>
              <a:t>The aim is to test whether the arrangement is useful, comfortable and affordable.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54480"/>
            <a:ext cx="530352" cy="530352"/>
          </a:xfrm>
          <a:prstGeom prst="ellipse">
            <a:avLst/>
          </a:prstGeom>
          <a:solidFill>
            <a:srgbClr val="377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530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361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2A2D"/>
                </a:solidFill>
                <a:latin typeface="Aptos"/>
              </a:defRPr>
            </a:pPr>
            <a:r>
              <a:t>Agree the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83664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76A"/>
                </a:solidFill>
                <a:latin typeface="Aptos"/>
              </a:defRPr>
            </a:pPr>
            <a:r>
              <a:t>Choose likely days, local destinations and a simple payment method.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5568" y="2084831"/>
            <a:ext cx="36576" cy="530352"/>
          </a:xfrm>
          <a:prstGeom prst="rect">
            <a:avLst/>
          </a:prstGeom>
          <a:solidFill>
            <a:srgbClr val="E7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2606039"/>
            <a:ext cx="530352" cy="530352"/>
          </a:xfrm>
          <a:prstGeom prst="ellipse">
            <a:avLst/>
          </a:prstGeom>
          <a:solidFill>
            <a:srgbClr val="377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51759"/>
            <a:ext cx="530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8775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2A2D"/>
                </a:solidFill>
                <a:latin typeface="Aptos"/>
              </a:defRPr>
            </a:pPr>
            <a:r>
              <a:t>Confirm practical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35223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76A"/>
                </a:solidFill>
                <a:latin typeface="Aptos"/>
              </a:defRPr>
            </a:pPr>
            <a:r>
              <a:t>Check insurance and any transport rules before regular paid trips begin.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5568" y="3136391"/>
            <a:ext cx="36576" cy="530352"/>
          </a:xfrm>
          <a:prstGeom prst="rect">
            <a:avLst/>
          </a:prstGeom>
          <a:solidFill>
            <a:srgbClr val="E7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3657599"/>
            <a:ext cx="530352" cy="530352"/>
          </a:xfrm>
          <a:prstGeom prst="ellipse">
            <a:avLst/>
          </a:prstGeom>
          <a:solidFill>
            <a:srgbClr val="377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530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63931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2A2D"/>
                </a:solidFill>
                <a:latin typeface="Aptos"/>
              </a:defRPr>
            </a:pPr>
            <a:r>
              <a:t>Run the trial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986783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76A"/>
                </a:solidFill>
                <a:latin typeface="Aptos"/>
              </a:defRPr>
            </a:pPr>
            <a:r>
              <a:t>Keep trips pre-arranged and record only the essentials: date, time, distance and cost.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5568" y="4187951"/>
            <a:ext cx="36576" cy="530352"/>
          </a:xfrm>
          <a:prstGeom prst="rect">
            <a:avLst/>
          </a:prstGeom>
          <a:solidFill>
            <a:srgbClr val="E7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4709159"/>
            <a:ext cx="530352" cy="530352"/>
          </a:xfrm>
          <a:prstGeom prst="ellipse">
            <a:avLst/>
          </a:prstGeom>
          <a:solidFill>
            <a:srgbClr val="377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754879"/>
            <a:ext cx="530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6908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2A2D"/>
                </a:solidFill>
                <a:latin typeface="Aptos"/>
              </a:defRPr>
            </a:pPr>
            <a:r>
              <a:t>Review together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038344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76A"/>
                </a:solidFill>
                <a:latin typeface="Aptos"/>
              </a:defRPr>
            </a:pPr>
            <a:r>
              <a:t>After four weeks, continue, adjust or stop with no pressure.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600200"/>
            <a:ext cx="3154680" cy="4297680"/>
          </a:xfrm>
          <a:prstGeom prst="roundRect">
            <a:avLst/>
          </a:prstGeom>
          <a:solidFill>
            <a:srgbClr val="DEECE9"/>
          </a:solidFill>
          <a:ln w="12700">
            <a:solidFill>
              <a:srgbClr val="DE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1938528"/>
            <a:ext cx="2606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2A2D"/>
                </a:solidFill>
                <a:latin typeface="Aptos"/>
              </a:defRPr>
            </a:pPr>
            <a:r>
              <a:t>The decision is simply: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8828" y="2651497"/>
            <a:ext cx="2797689" cy="86177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2500" b="1">
                <a:solidFill>
                  <a:srgbClr val="377977"/>
                </a:solidFill>
                <a:latin typeface="Aptos Display"/>
              </a:defRPr>
            </a:pPr>
            <a:r>
              <a:t>Would a small trial </a:t>
            </a:r>
            <a:endParaRPr lang="en-US"/>
          </a:p>
          <a:p>
            <a:pPr algn="ctr">
              <a:defRPr sz="2500" b="1">
                <a:solidFill>
                  <a:srgbClr val="377977"/>
                </a:solidFill>
                <a:latin typeface="Aptos Display"/>
              </a:defRPr>
            </a:pPr>
            <a:r>
              <a:t>make life easier?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9670" y="3855720"/>
            <a:ext cx="2386038" cy="5078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1350">
                <a:solidFill>
                  <a:srgbClr val="63676A"/>
                </a:solidFill>
                <a:latin typeface="Aptos"/>
              </a:defRPr>
            </a:pPr>
            <a:r>
              <a:t>If yes, agree the first two trips </a:t>
            </a:r>
            <a:endParaRPr lang="en-US"/>
          </a:p>
          <a:p>
            <a:pPr algn="ctr">
              <a:defRPr sz="1350">
                <a:solidFill>
                  <a:srgbClr val="63676A"/>
                </a:solidFill>
                <a:latin typeface="Aptos"/>
              </a:defRPr>
            </a:pPr>
            <a:r>
              <a:rPr lang="en-US"/>
              <a:t>and</a:t>
            </a:r>
            <a:r>
              <a:rPr dirty="0"/>
              <a:t> review from there.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446520"/>
            <a:ext cx="10835640" cy="18288"/>
          </a:xfrm>
          <a:prstGeom prst="rect">
            <a:avLst/>
          </a:prstGeom>
          <a:solidFill>
            <a:srgbClr val="E7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6492240"/>
            <a:ext cx="10332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676A"/>
                </a:solidFill>
                <a:latin typeface="Aptos"/>
              </a:defRPr>
            </a:pPr>
            <a:r>
              <a:t>Discussion draft • figures are indicative and can be adjusted</a:t>
            </a:r>
          </a:p>
        </p:txBody>
      </p:sp>
      <p:pic>
        <p:nvPicPr>
          <p:cNvPr id="36" name="Picture 3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01DCF3A-8BD9-B8D1-819E-CDB15B2E6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149" y="497163"/>
            <a:ext cx="3207441" cy="735082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A64FCAA1-1FCD-3C24-B8C1-898016E92C0E}"/>
              </a:ext>
            </a:extLst>
          </p:cNvPr>
          <p:cNvSpPr/>
          <p:nvPr/>
        </p:nvSpPr>
        <p:spPr>
          <a:xfrm>
            <a:off x="8646830" y="4703121"/>
            <a:ext cx="2270011" cy="523163"/>
          </a:xfrm>
          <a:prstGeom prst="roundRect">
            <a:avLst/>
          </a:prstGeom>
          <a:solidFill>
            <a:srgbClr val="377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Agreement</a:t>
            </a:r>
            <a:endParaRPr lang="en-US" dirty="0" err="1">
              <a:solidFill>
                <a:schemeClr val="bg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78</cp:revision>
  <dcterms:created xsi:type="dcterms:W3CDTF">2013-01-27T09:14:16Z</dcterms:created>
  <dcterms:modified xsi:type="dcterms:W3CDTF">2026-07-28T11:55:25Z</dcterms:modified>
  <cp:category/>
</cp:coreProperties>
</file>